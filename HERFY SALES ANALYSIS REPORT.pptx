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2EA5B2-D6A0-46C8-A03D-4715E58F697A}" v="4" dt="2025-12-06T07:27:33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ha Nourin" userId="5cf594b616358431" providerId="LiveId" clId="{DAEAC904-E759-4F27-A433-453FDCE6804C}"/>
    <pc:docChg chg="undo custSel addSld modSld sldOrd">
      <pc:chgData name="Hidha Nourin" userId="5cf594b616358431" providerId="LiveId" clId="{DAEAC904-E759-4F27-A433-453FDCE6804C}" dt="2025-12-06T07:31:00.732" v="68" actId="20577"/>
      <pc:docMkLst>
        <pc:docMk/>
      </pc:docMkLst>
      <pc:sldChg chg="modSp mod">
        <pc:chgData name="Hidha Nourin" userId="5cf594b616358431" providerId="LiveId" clId="{DAEAC904-E759-4F27-A433-453FDCE6804C}" dt="2025-12-06T07:19:51.953" v="32" actId="27636"/>
        <pc:sldMkLst>
          <pc:docMk/>
          <pc:sldMk cId="870975346" sldId="257"/>
        </pc:sldMkLst>
        <pc:spChg chg="mod">
          <ac:chgData name="Hidha Nourin" userId="5cf594b616358431" providerId="LiveId" clId="{DAEAC904-E759-4F27-A433-453FDCE6804C}" dt="2025-12-06T07:07:35.173" v="1" actId="14100"/>
          <ac:spMkLst>
            <pc:docMk/>
            <pc:sldMk cId="870975346" sldId="257"/>
            <ac:spMk id="5" creationId="{00268721-9464-127A-A2F7-6AF741F6A01D}"/>
          </ac:spMkLst>
        </pc:spChg>
        <pc:spChg chg="mod">
          <ac:chgData name="Hidha Nourin" userId="5cf594b616358431" providerId="LiveId" clId="{DAEAC904-E759-4F27-A433-453FDCE6804C}" dt="2025-12-06T07:19:51.953" v="32" actId="27636"/>
          <ac:spMkLst>
            <pc:docMk/>
            <pc:sldMk cId="870975346" sldId="257"/>
            <ac:spMk id="6" creationId="{DB1048B7-6F4A-AE22-868A-40599BE830F8}"/>
          </ac:spMkLst>
        </pc:spChg>
      </pc:sldChg>
      <pc:sldChg chg="modSp mod">
        <pc:chgData name="Hidha Nourin" userId="5cf594b616358431" providerId="LiveId" clId="{DAEAC904-E759-4F27-A433-453FDCE6804C}" dt="2025-12-06T07:20:00.213" v="33" actId="255"/>
        <pc:sldMkLst>
          <pc:docMk/>
          <pc:sldMk cId="2990512378" sldId="258"/>
        </pc:sldMkLst>
        <pc:spChg chg="mod">
          <ac:chgData name="Hidha Nourin" userId="5cf594b616358431" providerId="LiveId" clId="{DAEAC904-E759-4F27-A433-453FDCE6804C}" dt="2025-12-06T07:07:56.090" v="5" actId="14100"/>
          <ac:spMkLst>
            <pc:docMk/>
            <pc:sldMk cId="2990512378" sldId="258"/>
            <ac:spMk id="2" creationId="{D40A9D60-DBFF-C881-4FE7-E22F76BC9C34}"/>
          </ac:spMkLst>
        </pc:spChg>
        <pc:spChg chg="mod">
          <ac:chgData name="Hidha Nourin" userId="5cf594b616358431" providerId="LiveId" clId="{DAEAC904-E759-4F27-A433-453FDCE6804C}" dt="2025-12-06T07:20:00.213" v="33" actId="255"/>
          <ac:spMkLst>
            <pc:docMk/>
            <pc:sldMk cId="2990512378" sldId="258"/>
            <ac:spMk id="3" creationId="{14C10E9E-999D-2FD3-C356-A651DEA74773}"/>
          </ac:spMkLst>
        </pc:spChg>
      </pc:sldChg>
      <pc:sldChg chg="modSp mod">
        <pc:chgData name="Hidha Nourin" userId="5cf594b616358431" providerId="LiveId" clId="{DAEAC904-E759-4F27-A433-453FDCE6804C}" dt="2025-12-06T07:23:24.313" v="36" actId="20577"/>
        <pc:sldMkLst>
          <pc:docMk/>
          <pc:sldMk cId="3573047484" sldId="259"/>
        </pc:sldMkLst>
        <pc:spChg chg="mod">
          <ac:chgData name="Hidha Nourin" userId="5cf594b616358431" providerId="LiveId" clId="{DAEAC904-E759-4F27-A433-453FDCE6804C}" dt="2025-12-06T07:23:24.313" v="36" actId="20577"/>
          <ac:spMkLst>
            <pc:docMk/>
            <pc:sldMk cId="3573047484" sldId="259"/>
            <ac:spMk id="2" creationId="{10D952E2-EB9F-2BB8-7D2B-B76714DC3090}"/>
          </ac:spMkLst>
        </pc:spChg>
        <pc:spChg chg="mod">
          <ac:chgData name="Hidha Nourin" userId="5cf594b616358431" providerId="LiveId" clId="{DAEAC904-E759-4F27-A433-453FDCE6804C}" dt="2025-12-06T07:20:06.322" v="34" actId="255"/>
          <ac:spMkLst>
            <pc:docMk/>
            <pc:sldMk cId="3573047484" sldId="259"/>
            <ac:spMk id="3" creationId="{590F4CBC-ED49-4E9F-44EC-FAF347390A1D}"/>
          </ac:spMkLst>
        </pc:spChg>
      </pc:sldChg>
      <pc:sldChg chg="modSp mod">
        <pc:chgData name="Hidha Nourin" userId="5cf594b616358431" providerId="LiveId" clId="{DAEAC904-E759-4F27-A433-453FDCE6804C}" dt="2025-12-06T07:31:00.732" v="68" actId="20577"/>
        <pc:sldMkLst>
          <pc:docMk/>
          <pc:sldMk cId="2568323648" sldId="261"/>
        </pc:sldMkLst>
        <pc:spChg chg="mod">
          <ac:chgData name="Hidha Nourin" userId="5cf594b616358431" providerId="LiveId" clId="{DAEAC904-E759-4F27-A433-453FDCE6804C}" dt="2025-12-06T07:31:00.732" v="68" actId="20577"/>
          <ac:spMkLst>
            <pc:docMk/>
            <pc:sldMk cId="2568323648" sldId="261"/>
            <ac:spMk id="6" creationId="{082F4CF2-19D1-1919-2DD1-CC580ECC1310}"/>
          </ac:spMkLst>
        </pc:spChg>
      </pc:sldChg>
      <pc:sldChg chg="addSp modSp new mod ord">
        <pc:chgData name="Hidha Nourin" userId="5cf594b616358431" providerId="LiveId" clId="{DAEAC904-E759-4F27-A433-453FDCE6804C}" dt="2025-12-06T07:29:32.439" v="66" actId="2710"/>
        <pc:sldMkLst>
          <pc:docMk/>
          <pc:sldMk cId="643093844" sldId="263"/>
        </pc:sldMkLst>
        <pc:spChg chg="mod">
          <ac:chgData name="Hidha Nourin" userId="5cf594b616358431" providerId="LiveId" clId="{DAEAC904-E759-4F27-A433-453FDCE6804C}" dt="2025-12-06T07:28:17.003" v="61" actId="20577"/>
          <ac:spMkLst>
            <pc:docMk/>
            <pc:sldMk cId="643093844" sldId="263"/>
            <ac:spMk id="2" creationId="{31B75360-AC0E-D558-176F-F00A3554199C}"/>
          </ac:spMkLst>
        </pc:spChg>
        <pc:spChg chg="mod">
          <ac:chgData name="Hidha Nourin" userId="5cf594b616358431" providerId="LiveId" clId="{DAEAC904-E759-4F27-A433-453FDCE6804C}" dt="2025-12-06T07:29:32.439" v="66" actId="2710"/>
          <ac:spMkLst>
            <pc:docMk/>
            <pc:sldMk cId="643093844" sldId="263"/>
            <ac:spMk id="3" creationId="{3068F33B-FF69-C795-5335-387EBE55FDEC}"/>
          </ac:spMkLst>
        </pc:spChg>
        <pc:spChg chg="add mod">
          <ac:chgData name="Hidha Nourin" userId="5cf594b616358431" providerId="LiveId" clId="{DAEAC904-E759-4F27-A433-453FDCE6804C}" dt="2025-12-06T07:24:10.385" v="39"/>
          <ac:spMkLst>
            <pc:docMk/>
            <pc:sldMk cId="643093844" sldId="263"/>
            <ac:spMk id="4" creationId="{5AD77280-49D3-C6A7-0D2D-019D031A97F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4112-24EC-79C6-EDFB-E0BFCADEB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19C0F-3CD0-8F44-3F65-C53D84BF7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07E49-4B39-5016-7526-92031B4FF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E4A17-611A-E24D-0057-B4330616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B109F-59AA-FB6B-533B-A3DA4E94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257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A243-FA99-D6EF-C8F2-E27C2BB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FFCC6-8A18-4C49-FB3F-EF7644668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C8FF7-95B0-5A8A-1C0A-9B57E7C19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F95B6-89A5-6079-28AC-61646F34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6AE84-C8B2-3255-F17B-99009A0D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2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AD3D-9A90-D368-987C-3331182DB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99583-F7C8-DBD6-6942-3B4F78FD0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EB357-BEED-79D3-61D0-88ED8B3C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FB5C0-EBB4-47AC-2357-E039162E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C248E-89E5-2A07-565D-00B71EDF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919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94C9-7C19-6010-EFDE-D6B3270C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3D039-7277-67C9-902B-DAC0B2206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4E92A-F160-4C60-56E4-760719E1F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01D92-2DED-BE80-4FB5-1DF2B5C2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D4371-E584-8C05-21E3-B719FCCE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D77DB-E09E-A32A-28F7-9E0A08A2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97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489B-A856-9028-3A29-DA44E7FF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54D69-0034-EEF4-A05D-78B81BAB8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BFD27B-E6CF-0E9D-979D-7CD8DC4AA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F1299-DCB4-12F1-7465-5EFD42677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B252C4-CF69-E8A5-0662-7152C82DD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BE1803-1F44-B0CA-69A4-56C7FAFF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AE1B8F-4CC7-4309-8682-6F20AC894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7287D-84BB-936D-5C86-782E30EA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469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8CBC-9B20-5054-864D-AF9BFB65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48FF7-ADBC-BCFC-DB8C-D4CB50DB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C977E-7E60-0F64-190E-BD2FBCC2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25301-7BB0-58BA-CD57-18B87B98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28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6E4EC-DF4A-21C1-2F8A-D4EE8D2E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471D27-CC7B-B79E-CE01-D31E6BD7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5EDAE-E954-0D7B-AA16-6CE7B68B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80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7146-69E7-00F3-8467-2649B7CE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DA77C-A347-DFFD-EEBE-2D1D10BD5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68941-F89E-208A-18C4-B84FC9107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AE7C9-1ADD-AEED-38D4-157E0AB8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B82CD-5B23-7628-B89F-39E54F0C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87AE7-EBEC-E734-F44C-96946F82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926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9308-7799-20FC-179D-A8FEF387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A7F27-1C4E-4D74-C4D2-2CD2ED66D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CB29F-8466-9328-9474-E832F778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1A101-BD71-2752-0537-B316B07B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11032-2D52-C108-7FCD-75E89CE1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00DA7-D622-4FD0-AA6D-35747A1F2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7C02-2FD1-91DF-6116-05EE25B6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4DB02-FAD7-D697-AA46-756789764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8CD2-9911-D69E-4EAB-C9C56C26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CE7DF-4141-C220-7F89-0D09AF45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C6B95-323B-5156-01B7-14854F5F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572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C438EE-43A6-0C7C-F86B-4A8A502FF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DEA42-6ADB-9C12-07EF-DEAA9A4E9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3C13E-AD95-6D88-3380-CE96CBE3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4116E-0AC1-F7A3-8FB7-239939D5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AB469-DDEF-1128-0D33-6AB03127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2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718B1B-3B5E-0108-FCE8-E61F3359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74ED9-DD95-BB32-BED8-FB1988CF3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574A7-C306-38C9-C228-5C89A3A95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363AD-D715-4B55-A52C-D949CB18F98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73247-1441-B045-7C49-8E05B9FBB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B01AF-75DA-AD10-1740-B580DBBC1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E37DD-627C-4577-9935-2B7FECB35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98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1DA2-7822-F3C0-E257-A17F3276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33377"/>
            <a:ext cx="3932237" cy="123337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HERFY SALES ANALYSIS REPORT</a:t>
            </a:r>
          </a:p>
        </p:txBody>
      </p:sp>
      <p:pic>
        <p:nvPicPr>
          <p:cNvPr id="13" name="Content Placeholder 12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8DFEC378-356D-3003-EC8B-0A9202E95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467091" y="1685554"/>
            <a:ext cx="6172200" cy="3486892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949956C-AF4B-10D1-3B67-76A222FE9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Prepared by : </a:t>
            </a:r>
            <a:r>
              <a:rPr lang="en-GB" b="1" dirty="0"/>
              <a:t>Hidha Nourin</a:t>
            </a:r>
            <a:br>
              <a:rPr lang="en-GB" dirty="0"/>
            </a:br>
            <a:r>
              <a:rPr lang="en-GB" dirty="0"/>
              <a:t>Data Analyst</a:t>
            </a:r>
          </a:p>
          <a:p>
            <a:endParaRPr lang="en-GB" dirty="0"/>
          </a:p>
          <a:p>
            <a:r>
              <a:rPr lang="en-GB" b="1" dirty="0"/>
              <a:t>Date :</a:t>
            </a:r>
            <a:r>
              <a:rPr lang="en-GB" dirty="0"/>
              <a:t>  6</a:t>
            </a:r>
            <a:r>
              <a:rPr lang="en-GB" baseline="30000" dirty="0"/>
              <a:t>th</a:t>
            </a:r>
            <a:r>
              <a:rPr lang="en-GB" dirty="0"/>
              <a:t> December 2025</a:t>
            </a:r>
          </a:p>
          <a:p>
            <a:r>
              <a:rPr lang="en-GB" dirty="0"/>
              <a:t>Tools Used: Power BI  | Excel  |  PowerPoint</a:t>
            </a: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3D7E6C-3425-BD8C-AFF8-316AD53F3896}"/>
              </a:ext>
            </a:extLst>
          </p:cNvPr>
          <p:cNvSpPr/>
          <p:nvPr/>
        </p:nvSpPr>
        <p:spPr>
          <a:xfrm>
            <a:off x="0" y="0"/>
            <a:ext cx="12192000" cy="276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424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268721-9464-127A-A2F7-6AF741F6A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6958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KPIs &amp; PERFORMANCE 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1048B7-6F4A-AE22-868A-40599BE83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82"/>
            <a:ext cx="10515600" cy="50073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Overall Performance Summary</a:t>
            </a:r>
          </a:p>
          <a:p>
            <a:pPr marL="0" indent="0">
              <a:buNone/>
            </a:pPr>
            <a:endParaRPr lang="en-GB" sz="2100" dirty="0"/>
          </a:p>
          <a:p>
            <a:pPr marL="0" indent="0">
              <a:buNone/>
            </a:pPr>
            <a:r>
              <a:rPr lang="en-GB" sz="2100" b="1" dirty="0"/>
              <a:t>KPIs :</a:t>
            </a:r>
            <a:endParaRPr lang="en-GB" sz="2100" dirty="0"/>
          </a:p>
          <a:p>
            <a:r>
              <a:rPr lang="en-GB" sz="2100" dirty="0"/>
              <a:t>Total Net Sales </a:t>
            </a:r>
            <a:r>
              <a:rPr lang="en-GB" sz="2100" b="1" dirty="0"/>
              <a:t>:</a:t>
            </a:r>
            <a:r>
              <a:rPr lang="en-GB" sz="2100" dirty="0"/>
              <a:t> 80.71M SAR</a:t>
            </a:r>
          </a:p>
          <a:p>
            <a:r>
              <a:rPr lang="en-GB" sz="2100" dirty="0"/>
              <a:t>Total Returns : 8.96M SAR</a:t>
            </a:r>
          </a:p>
          <a:p>
            <a:r>
              <a:rPr lang="en-GB" sz="2100" dirty="0"/>
              <a:t>Return % : 11.10%</a:t>
            </a:r>
          </a:p>
          <a:p>
            <a:r>
              <a:rPr lang="en-GB" sz="2100" dirty="0"/>
              <a:t>Average Sales per Route : 226.10K SAR</a:t>
            </a:r>
          </a:p>
          <a:p>
            <a:endParaRPr lang="en-GB" sz="2100" dirty="0"/>
          </a:p>
          <a:p>
            <a:pPr marL="0" indent="0">
              <a:buNone/>
            </a:pPr>
            <a:r>
              <a:rPr lang="en-GB" sz="2100" b="1" dirty="0"/>
              <a:t>Key Insights :</a:t>
            </a:r>
            <a:endParaRPr lang="en-GB" sz="2100" dirty="0"/>
          </a:p>
          <a:p>
            <a:r>
              <a:rPr lang="en-GB" sz="2100" dirty="0"/>
              <a:t>Net Sales remain strong across major locations, especially in Riyadh regions.</a:t>
            </a:r>
          </a:p>
          <a:p>
            <a:r>
              <a:rPr lang="en-GB" sz="2100" dirty="0"/>
              <a:t>Return percentage above 10% indicates operational improvement opportunities.</a:t>
            </a:r>
          </a:p>
          <a:p>
            <a:r>
              <a:rPr lang="en-GB" sz="2100" dirty="0"/>
              <a:t>Highest revenue contribution comes from central routes and cash based locations.</a:t>
            </a:r>
          </a:p>
          <a:p>
            <a:r>
              <a:rPr lang="en-GB" sz="2100" dirty="0"/>
              <a:t>Several routes maintain consistent performance with low return amounts.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4C4D0E-A3C6-1EE3-DC0D-9DD20AFC0B5F}"/>
              </a:ext>
            </a:extLst>
          </p:cNvPr>
          <p:cNvSpPr/>
          <p:nvPr/>
        </p:nvSpPr>
        <p:spPr>
          <a:xfrm>
            <a:off x="0" y="0"/>
            <a:ext cx="27644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97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A9D60-DBFF-C881-4FE7-E22F76BC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9515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CITY &amp; ROUTE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10E9E-999D-2FD3-C356-A651DEA74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154"/>
            <a:ext cx="10515600" cy="5081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City &amp; Route Performance Analysis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1800" b="1" dirty="0"/>
              <a:t>City Insights:</a:t>
            </a:r>
            <a:endParaRPr lang="en-GB" sz="1800" dirty="0"/>
          </a:p>
          <a:p>
            <a:r>
              <a:rPr lang="en-GB" sz="1800" dirty="0"/>
              <a:t>Top cities : Riyadh Cash, Jail, Riyadh KA</a:t>
            </a:r>
          </a:p>
          <a:p>
            <a:r>
              <a:rPr lang="en-GB" sz="1800" dirty="0"/>
              <a:t>Lowest city : Hail</a:t>
            </a:r>
          </a:p>
          <a:p>
            <a:r>
              <a:rPr lang="en-GB" sz="1800" dirty="0"/>
              <a:t>High concentration of sales in Riyadh indicates strong regional demand.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b="1" dirty="0"/>
              <a:t>Route Insights:</a:t>
            </a:r>
            <a:endParaRPr lang="en-GB" sz="1800" dirty="0"/>
          </a:p>
          <a:p>
            <a:r>
              <a:rPr lang="en-GB" sz="1800" dirty="0"/>
              <a:t>Best Performing Routes : Export, CCRS02, CCRS01…</a:t>
            </a:r>
          </a:p>
          <a:p>
            <a:r>
              <a:rPr lang="en-GB" sz="1800" dirty="0"/>
              <a:t>Routes Needing Attention : CCR163, CCR157, CCRV88…</a:t>
            </a:r>
          </a:p>
          <a:p>
            <a:r>
              <a:rPr lang="en-GB" sz="1800" dirty="0"/>
              <a:t>High-return routes may need route optimization or quality checks.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CEBDDB-AB4F-1C91-3A16-2F263A168E99}"/>
              </a:ext>
            </a:extLst>
          </p:cNvPr>
          <p:cNvSpPr/>
          <p:nvPr/>
        </p:nvSpPr>
        <p:spPr>
          <a:xfrm>
            <a:off x="0" y="0"/>
            <a:ext cx="27644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512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5360-AC0E-D558-176F-F00A35541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424762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Route Performance – </a:t>
            </a:r>
            <a:r>
              <a:rPr lang="en-GB" sz="32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Color</a:t>
            </a:r>
            <a:r>
              <a:rPr lang="en-GB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Coding</a:t>
            </a:r>
            <a:endParaRPr lang="en-IN" sz="32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8F33B-FF69-C795-5335-387EBE55F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6540"/>
            <a:ext cx="10515600" cy="489042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🟩 Green – Best Performing Routes</a:t>
            </a:r>
            <a:br>
              <a:rPr lang="en-GB" sz="1800" dirty="0"/>
            </a:br>
            <a:r>
              <a:rPr lang="en-GB" sz="1800" dirty="0" err="1"/>
              <a:t>Routes</a:t>
            </a:r>
            <a:r>
              <a:rPr lang="en-GB" sz="1800" dirty="0"/>
              <a:t> highlighted in green have </a:t>
            </a:r>
            <a:r>
              <a:rPr lang="en-GB" sz="1800" b="1" dirty="0"/>
              <a:t>high sales and very low return percentages</a:t>
            </a:r>
            <a:r>
              <a:rPr lang="en-GB" sz="1800" dirty="0"/>
              <a:t>.</a:t>
            </a:r>
            <a:br>
              <a:rPr lang="en-GB" sz="1800" dirty="0"/>
            </a:br>
            <a:r>
              <a:rPr lang="en-GB" sz="1800" dirty="0"/>
              <a:t>These routes show </a:t>
            </a:r>
            <a:r>
              <a:rPr lang="en-GB" sz="1800" b="1" dirty="0"/>
              <a:t>strong efficiency, good product handling and high customer satisfaction</a:t>
            </a:r>
            <a:r>
              <a:rPr lang="en-GB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🟨 Yellow – Moderate Performance</a:t>
            </a:r>
            <a:br>
              <a:rPr lang="en-GB" sz="1800" dirty="0"/>
            </a:br>
            <a:r>
              <a:rPr lang="en-GB" sz="1800" dirty="0"/>
              <a:t>Yellow routes show </a:t>
            </a:r>
            <a:r>
              <a:rPr lang="en-GB" sz="1800" b="1" dirty="0"/>
              <a:t>medium return percentages</a:t>
            </a:r>
            <a:r>
              <a:rPr lang="en-GB" sz="1800" dirty="0"/>
              <a:t>.</a:t>
            </a:r>
            <a:br>
              <a:rPr lang="en-GB" sz="1800" dirty="0"/>
            </a:br>
            <a:r>
              <a:rPr lang="en-GB" sz="1800" dirty="0"/>
              <a:t>Performance is </a:t>
            </a:r>
            <a:r>
              <a:rPr lang="en-GB" sz="1800" b="1" dirty="0"/>
              <a:t>acceptable but inconsistent</a:t>
            </a:r>
            <a:r>
              <a:rPr lang="en-GB" sz="1800" dirty="0"/>
              <a:t>, and these routes </a:t>
            </a:r>
            <a:r>
              <a:rPr lang="en-GB" sz="1800" b="1" dirty="0"/>
              <a:t>need monitoring and minor improvements</a:t>
            </a:r>
            <a:r>
              <a:rPr lang="en-GB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🟥 Red – Routes Needing Immediate Attention</a:t>
            </a:r>
            <a:br>
              <a:rPr lang="en-GB" sz="1800" dirty="0"/>
            </a:br>
            <a:r>
              <a:rPr lang="en-GB" sz="1800" dirty="0"/>
              <a:t>Red routes have </a:t>
            </a:r>
            <a:r>
              <a:rPr lang="en-GB" sz="1800" b="1" dirty="0"/>
              <a:t>high return percentages</a:t>
            </a:r>
            <a:r>
              <a:rPr lang="en-GB" sz="1800" dirty="0"/>
              <a:t>, indicating </a:t>
            </a:r>
            <a:r>
              <a:rPr lang="en-GB" sz="1800" b="1" dirty="0"/>
              <a:t>delivery issues, handling problems or customer dissatisfaction</a:t>
            </a:r>
            <a:r>
              <a:rPr lang="en-GB" sz="1800" dirty="0"/>
              <a:t>.</a:t>
            </a:r>
            <a:br>
              <a:rPr lang="en-GB" sz="1800" dirty="0"/>
            </a:br>
            <a:r>
              <a:rPr lang="en-GB" sz="1800" dirty="0"/>
              <a:t>These routes pose a </a:t>
            </a:r>
            <a:r>
              <a:rPr lang="en-GB" sz="1800" b="1" dirty="0"/>
              <a:t>risk to profitability</a:t>
            </a:r>
            <a:r>
              <a:rPr lang="en-GB" sz="1800" dirty="0"/>
              <a:t> and require </a:t>
            </a:r>
            <a:r>
              <a:rPr lang="en-GB" sz="1800" b="1" dirty="0"/>
              <a:t>urgent investigation and correction</a:t>
            </a:r>
            <a:r>
              <a:rPr lang="en-GB" sz="18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D77280-49D3-C6A7-0D2D-019D031A97F9}"/>
              </a:ext>
            </a:extLst>
          </p:cNvPr>
          <p:cNvSpPr/>
          <p:nvPr/>
        </p:nvSpPr>
        <p:spPr>
          <a:xfrm>
            <a:off x="0" y="0"/>
            <a:ext cx="27644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093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52E2-EB9F-2BB8-7D2B-B76714DC3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452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MONTHLY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F4CBC-ED49-4E9F-44EC-FAF347390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4522"/>
            <a:ext cx="10515600" cy="5092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MONTHLY SALES &amp; RETURN TRENDS</a:t>
            </a:r>
          </a:p>
          <a:p>
            <a:pPr marL="0" indent="0">
              <a:buNone/>
            </a:pPr>
            <a:endParaRPr lang="en-IN" sz="2200" b="1" dirty="0"/>
          </a:p>
          <a:p>
            <a:pPr marL="0" indent="0">
              <a:buNone/>
            </a:pPr>
            <a:r>
              <a:rPr lang="en-GB" sz="1800" b="1" dirty="0"/>
              <a:t>Monthly Net Sales Trend (with Forecast)</a:t>
            </a:r>
          </a:p>
          <a:p>
            <a:r>
              <a:rPr lang="en-GB" sz="1800" dirty="0"/>
              <a:t>Net Sales fluctuated throughout the year with noticeable dips in </a:t>
            </a:r>
            <a:r>
              <a:rPr lang="en-GB" sz="1800" b="1" dirty="0"/>
              <a:t>March</a:t>
            </a:r>
            <a:r>
              <a:rPr lang="en-GB" sz="1800" dirty="0"/>
              <a:t> and </a:t>
            </a:r>
            <a:r>
              <a:rPr lang="en-GB" sz="1800" b="1" dirty="0"/>
              <a:t>August</a:t>
            </a:r>
            <a:r>
              <a:rPr lang="en-GB" sz="1800" dirty="0"/>
              <a:t>.</a:t>
            </a:r>
          </a:p>
          <a:p>
            <a:r>
              <a:rPr lang="en-GB" sz="1800" dirty="0"/>
              <a:t>Strong recovery observed in </a:t>
            </a:r>
            <a:r>
              <a:rPr lang="en-GB" sz="1800" b="1" dirty="0"/>
              <a:t>May</a:t>
            </a:r>
            <a:r>
              <a:rPr lang="en-GB" sz="1800" dirty="0"/>
              <a:t> and </a:t>
            </a:r>
            <a:r>
              <a:rPr lang="en-GB" sz="1800" b="1" dirty="0"/>
              <a:t>September</a:t>
            </a:r>
            <a:r>
              <a:rPr lang="en-GB" sz="1800" dirty="0"/>
              <a:t>.</a:t>
            </a:r>
          </a:p>
          <a:p>
            <a:r>
              <a:rPr lang="en-GB" sz="1800" dirty="0"/>
              <a:t>Forecast indicates </a:t>
            </a:r>
            <a:r>
              <a:rPr lang="en-GB" sz="1800" b="1" dirty="0"/>
              <a:t>stable to moderate growth</a:t>
            </a:r>
            <a:r>
              <a:rPr lang="en-GB" sz="1800" dirty="0"/>
              <a:t> in the upcoming months.</a:t>
            </a:r>
          </a:p>
          <a:p>
            <a:r>
              <a:rPr lang="en-GB" sz="1800" dirty="0"/>
              <a:t>Seasonal performance variations suggest planning opportunities for inventory and manpower.</a:t>
            </a:r>
          </a:p>
          <a:p>
            <a:endParaRPr lang="en-GB" sz="1800" dirty="0"/>
          </a:p>
          <a:p>
            <a:pPr marL="0" indent="0">
              <a:buNone/>
            </a:pPr>
            <a:r>
              <a:rPr lang="en-IN" sz="1800" b="1" dirty="0"/>
              <a:t>Monthly Return % Trend</a:t>
            </a:r>
          </a:p>
          <a:p>
            <a:r>
              <a:rPr lang="en-GB" sz="1800" dirty="0"/>
              <a:t>Return % dropped significantly from </a:t>
            </a:r>
            <a:r>
              <a:rPr lang="en-GB" sz="1800" b="1" dirty="0"/>
              <a:t>19% in January</a:t>
            </a:r>
            <a:r>
              <a:rPr lang="en-GB" sz="1800" dirty="0"/>
              <a:t> to </a:t>
            </a:r>
            <a:r>
              <a:rPr lang="en-GB" sz="1800" b="1" dirty="0"/>
              <a:t>5% in May</a:t>
            </a:r>
            <a:r>
              <a:rPr lang="en-GB" sz="1800" dirty="0"/>
              <a:t>.</a:t>
            </a:r>
          </a:p>
          <a:p>
            <a:r>
              <a:rPr lang="en-GB" sz="1800" dirty="0"/>
              <a:t>This consistent decline shows </a:t>
            </a:r>
            <a:r>
              <a:rPr lang="en-GB" sz="1800" b="1" dirty="0"/>
              <a:t>improvement in operations</a:t>
            </a:r>
            <a:r>
              <a:rPr lang="en-GB" sz="1800" dirty="0"/>
              <a:t> and better route performance.</a:t>
            </a:r>
          </a:p>
          <a:p>
            <a:r>
              <a:rPr lang="en-GB" sz="1800" dirty="0"/>
              <a:t>Slight rise in later months but overall remains </a:t>
            </a:r>
            <a:r>
              <a:rPr lang="en-GB" sz="1800" b="1" dirty="0"/>
              <a:t>below critical levels</a:t>
            </a:r>
            <a:r>
              <a:rPr lang="en-GB" sz="1800" dirty="0"/>
              <a:t>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IN" sz="2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484E4F-21BC-922F-DEC7-F518EFAFE986}"/>
              </a:ext>
            </a:extLst>
          </p:cNvPr>
          <p:cNvSpPr/>
          <p:nvPr/>
        </p:nvSpPr>
        <p:spPr>
          <a:xfrm>
            <a:off x="0" y="0"/>
            <a:ext cx="27644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04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29AB-C5D8-0651-CDCE-29DAFF45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EBBA-B8FF-B516-94FC-3B1D370E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CONCLUSION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82F4CF2-19D1-1919-2DD1-CC580ECC131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838200" y="1498638"/>
            <a:ext cx="10633075" cy="286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Herfy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overall sales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driven by key cities like Riyadh and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routes.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return percentages in a few routes indicate areas for operational improvement.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Reduction in return %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progress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quality control and route management.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Continued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performing cities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return routes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further increase profitability.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forecast suggests stable sales, supporting confident decision-making for upcoming quarters.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328D4-8820-03CC-0A28-547672880B54}"/>
              </a:ext>
            </a:extLst>
          </p:cNvPr>
          <p:cNvSpPr/>
          <p:nvPr/>
        </p:nvSpPr>
        <p:spPr>
          <a:xfrm>
            <a:off x="0" y="0"/>
            <a:ext cx="27644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323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191A-966C-5F21-E071-DEE248D0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8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THANK YOU</a:t>
            </a:r>
            <a:endParaRPr lang="en-IN" sz="8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6CA475-6B31-90C0-D553-DF0F736F331D}"/>
              </a:ext>
            </a:extLst>
          </p:cNvPr>
          <p:cNvSpPr/>
          <p:nvPr/>
        </p:nvSpPr>
        <p:spPr>
          <a:xfrm>
            <a:off x="0" y="0"/>
            <a:ext cx="27644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92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462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HERFY SALES ANALYSIS REPORT</vt:lpstr>
      <vt:lpstr>KEY KPIs &amp; PERFORMANCE SUMMARY</vt:lpstr>
      <vt:lpstr>CITY &amp; ROUTE PERFORMANCE</vt:lpstr>
      <vt:lpstr>Route Performance – Color Coding</vt:lpstr>
      <vt:lpstr>MONTHLY TRENDS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Hidha Nourin</dc:creator>
  <cp:lastModifiedBy>Hidha Nourin</cp:lastModifiedBy>
  <cp:revision>1</cp:revision>
  <dcterms:created xsi:type="dcterms:W3CDTF">2025-12-06T06:03:51Z</dcterms:created>
  <dcterms:modified xsi:type="dcterms:W3CDTF">2025-12-06T07:31:09Z</dcterms:modified>
</cp:coreProperties>
</file>